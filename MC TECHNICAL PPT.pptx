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72159"/>
            <a:ext cx="767079" cy="533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35079" y="772159"/>
            <a:ext cx="756920" cy="5334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1999" cy="7721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4410" y="1810588"/>
            <a:ext cx="8447405" cy="10041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7900" y="2824244"/>
            <a:ext cx="8766175" cy="2602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2772" rIns="0" bIns="0" rtlCol="0" vert="horz">
            <a:spAutoFit/>
          </a:bodyPr>
          <a:lstStyle/>
          <a:p>
            <a:pPr marL="1611630">
              <a:lnSpc>
                <a:spcPct val="100000"/>
              </a:lnSpc>
              <a:spcBef>
                <a:spcPts val="100"/>
              </a:spcBef>
            </a:pPr>
            <a:r>
              <a:rPr dirty="0" sz="3600" spc="-30">
                <a:solidFill>
                  <a:srgbClr val="0F243E"/>
                </a:solidFill>
              </a:rPr>
              <a:t>Wireless</a:t>
            </a:r>
            <a:r>
              <a:rPr dirty="0" sz="3600" spc="-180">
                <a:solidFill>
                  <a:srgbClr val="0F243E"/>
                </a:solidFill>
              </a:rPr>
              <a:t> </a:t>
            </a:r>
            <a:r>
              <a:rPr dirty="0" sz="3600" spc="-35">
                <a:solidFill>
                  <a:srgbClr val="0F243E"/>
                </a:solidFill>
              </a:rPr>
              <a:t>Communication</a:t>
            </a:r>
            <a:endParaRPr sz="36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083" y="885520"/>
            <a:ext cx="10515600" cy="119461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00983" y="3332226"/>
            <a:ext cx="49898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65">
                <a:solidFill>
                  <a:srgbClr val="FF0000"/>
                </a:solidFill>
                <a:latin typeface="Times New Roman"/>
                <a:cs typeface="Times New Roman"/>
              </a:rPr>
              <a:t>ITA0321–</a:t>
            </a:r>
            <a:r>
              <a:rPr dirty="0" sz="2800" spc="-10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65">
                <a:solidFill>
                  <a:srgbClr val="FF0000"/>
                </a:solidFill>
                <a:latin typeface="Times New Roman"/>
                <a:cs typeface="Times New Roman"/>
              </a:rPr>
              <a:t>MOBILE</a:t>
            </a:r>
            <a:r>
              <a:rPr dirty="0" sz="2800" spc="-8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35">
                <a:solidFill>
                  <a:srgbClr val="FF0000"/>
                </a:solidFill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3873" y="4325120"/>
            <a:ext cx="5173345" cy="1311275"/>
          </a:xfrm>
          <a:prstGeom prst="rect">
            <a:avLst/>
          </a:prstGeom>
        </p:spPr>
        <p:txBody>
          <a:bodyPr wrap="square" lIns="0" tIns="228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2800" spc="-10">
                <a:solidFill>
                  <a:srgbClr val="2F858E"/>
                </a:solidFill>
                <a:latin typeface="Times New Roman"/>
                <a:cs typeface="Times New Roman"/>
              </a:rPr>
              <a:t>GUIDED</a:t>
            </a:r>
            <a:r>
              <a:rPr dirty="0" sz="2800" spc="-150">
                <a:solidFill>
                  <a:srgbClr val="2F858E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2F858E"/>
                </a:solidFill>
                <a:latin typeface="Times New Roman"/>
                <a:cs typeface="Times New Roman"/>
              </a:rPr>
              <a:t>BY: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2800">
                <a:solidFill>
                  <a:srgbClr val="2F858E"/>
                </a:solidFill>
                <a:latin typeface="Times New Roman"/>
                <a:cs typeface="Times New Roman"/>
              </a:rPr>
              <a:t>Dr.</a:t>
            </a:r>
            <a:r>
              <a:rPr dirty="0" sz="2800" spc="-135">
                <a:solidFill>
                  <a:srgbClr val="2F858E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F858E"/>
                </a:solidFill>
                <a:latin typeface="Times New Roman"/>
                <a:cs typeface="Times New Roman"/>
              </a:rPr>
              <a:t>Manikandan</a:t>
            </a:r>
            <a:r>
              <a:rPr dirty="0" sz="2800" spc="-40">
                <a:solidFill>
                  <a:srgbClr val="2F858E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F858E"/>
                </a:solidFill>
                <a:latin typeface="Times New Roman"/>
                <a:cs typeface="Times New Roman"/>
              </a:rPr>
              <a:t>Balasubramaniyam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7225" y="4326263"/>
            <a:ext cx="2698750" cy="1311275"/>
          </a:xfrm>
          <a:prstGeom prst="rect">
            <a:avLst/>
          </a:prstGeom>
        </p:spPr>
        <p:txBody>
          <a:bodyPr wrap="square" lIns="0" tIns="228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2800" spc="-10">
                <a:solidFill>
                  <a:srgbClr val="2F858E"/>
                </a:solidFill>
                <a:latin typeface="Times New Roman"/>
                <a:cs typeface="Times New Roman"/>
              </a:rPr>
              <a:t>PRESENTED</a:t>
            </a:r>
            <a:r>
              <a:rPr dirty="0" sz="2800" spc="-160">
                <a:solidFill>
                  <a:srgbClr val="2F858E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2F858E"/>
                </a:solidFill>
                <a:latin typeface="Times New Roman"/>
                <a:cs typeface="Times New Roman"/>
              </a:rPr>
              <a:t>BY: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2800">
                <a:solidFill>
                  <a:srgbClr val="2F858E"/>
                </a:solidFill>
                <a:latin typeface="Times New Roman"/>
                <a:cs typeface="Times New Roman"/>
              </a:rPr>
              <a:t>R.</a:t>
            </a:r>
            <a:r>
              <a:rPr dirty="0" sz="2800" spc="-20">
                <a:solidFill>
                  <a:srgbClr val="2F858E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2F858E"/>
                </a:solidFill>
                <a:latin typeface="Times New Roman"/>
                <a:cs typeface="Times New Roman"/>
              </a:rPr>
              <a:t>JAYANTH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5616" y="1957832"/>
            <a:ext cx="1905" cy="0"/>
          </a:xfrm>
          <a:custGeom>
            <a:avLst/>
            <a:gdLst/>
            <a:ahLst/>
            <a:cxnLst/>
            <a:rect l="l" t="t" r="r" b="b"/>
            <a:pathLst>
              <a:path w="1905" h="0">
                <a:moveTo>
                  <a:pt x="0" y="0"/>
                </a:moveTo>
                <a:lnTo>
                  <a:pt x="152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083" y="885520"/>
            <a:ext cx="10515600" cy="119461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15005" y="2098929"/>
            <a:ext cx="707009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00" spc="-60"/>
              <a:t>Introduction</a:t>
            </a:r>
            <a:r>
              <a:rPr dirty="0" sz="3800" spc="-175"/>
              <a:t> </a:t>
            </a:r>
            <a:r>
              <a:rPr dirty="0" sz="3800"/>
              <a:t>&amp;</a:t>
            </a:r>
            <a:r>
              <a:rPr dirty="0" sz="3800" spc="-100"/>
              <a:t> </a:t>
            </a:r>
            <a:r>
              <a:rPr dirty="0" sz="3800" spc="-50"/>
              <a:t>Problem</a:t>
            </a:r>
            <a:r>
              <a:rPr dirty="0" sz="3800" spc="-229"/>
              <a:t> </a:t>
            </a:r>
            <a:r>
              <a:rPr dirty="0" sz="3800" spc="-10"/>
              <a:t>Statement</a:t>
            </a:r>
            <a:endParaRPr sz="3800"/>
          </a:p>
        </p:txBody>
      </p:sp>
      <p:sp>
        <p:nvSpPr>
          <p:cNvPr id="5" name="object 5"/>
          <p:cNvSpPr txBox="1"/>
          <p:nvPr/>
        </p:nvSpPr>
        <p:spPr>
          <a:xfrm>
            <a:off x="1112926" y="2690640"/>
            <a:ext cx="9989185" cy="3425190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2000" spc="-10" b="1">
                <a:latin typeface="Times New Roman"/>
                <a:cs typeface="Times New Roman"/>
              </a:rPr>
              <a:t>Introduction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000"/>
              </a:lnSpc>
              <a:spcBef>
                <a:spcPts val="55"/>
              </a:spcBef>
              <a:buAutoNum type="arabicPeriod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Wireless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communication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transfers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between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devices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without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physical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cables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electromagnetic waves.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mobile phones,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Wi-</a:t>
            </a:r>
            <a:r>
              <a:rPr dirty="0" sz="1800">
                <a:latin typeface="Times New Roman"/>
                <a:cs typeface="Times New Roman"/>
              </a:rPr>
              <a:t>Fi,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Bluetooth,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satellite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communication.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000" b="1">
                <a:latin typeface="Times New Roman"/>
                <a:cs typeface="Times New Roman"/>
              </a:rPr>
              <a:t>Problem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Statement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000"/>
              </a:lnSpc>
              <a:spcBef>
                <a:spcPts val="55"/>
              </a:spcBef>
              <a:buAutoNum type="arabicPeriod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Wireless</a:t>
            </a:r>
            <a:r>
              <a:rPr dirty="0" sz="1800" spc="4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communication</a:t>
            </a:r>
            <a:r>
              <a:rPr dirty="0" sz="1800" spc="5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faces</a:t>
            </a:r>
            <a:r>
              <a:rPr dirty="0" sz="1800" spc="4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challenges</a:t>
            </a:r>
            <a:r>
              <a:rPr dirty="0" sz="1800" spc="5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such</a:t>
            </a:r>
            <a:r>
              <a:rPr dirty="0" sz="1800" spc="5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5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signal</a:t>
            </a:r>
            <a:r>
              <a:rPr dirty="0" sz="1800" spc="5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interference,</a:t>
            </a:r>
            <a:r>
              <a:rPr dirty="0" sz="1800" spc="5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security</a:t>
            </a:r>
            <a:r>
              <a:rPr dirty="0" sz="1800" spc="5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risks,</a:t>
            </a:r>
            <a:r>
              <a:rPr dirty="0" sz="1800" spc="5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45">
                <a:latin typeface="Times New Roman"/>
                <a:cs typeface="Times New Roman"/>
              </a:rPr>
              <a:t>  </a:t>
            </a:r>
            <a:r>
              <a:rPr dirty="0" sz="1800" spc="-10">
                <a:latin typeface="Times New Roman"/>
                <a:cs typeface="Times New Roman"/>
              </a:rPr>
              <a:t>limited bandwidth.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85"/>
              </a:spcBef>
              <a:buAutoNum type="arabicPeriod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reliable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wireless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needed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secure,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fast,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uninterrupted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connectivity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60805">
              <a:lnSpc>
                <a:spcPct val="100000"/>
              </a:lnSpc>
              <a:spcBef>
                <a:spcPts val="100"/>
              </a:spcBef>
            </a:pPr>
            <a:r>
              <a:rPr dirty="0" spc="-80"/>
              <a:t>Proposed</a:t>
            </a:r>
            <a:r>
              <a:rPr dirty="0" spc="-325"/>
              <a:t> </a:t>
            </a:r>
            <a:r>
              <a:rPr dirty="0" spc="-4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083" y="885621"/>
            <a:ext cx="10515600" cy="10738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3955" y="2548104"/>
            <a:ext cx="6863367" cy="4109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93467" y="1930400"/>
            <a:ext cx="1905" cy="0"/>
          </a:xfrm>
          <a:custGeom>
            <a:avLst/>
            <a:gdLst/>
            <a:ahLst/>
            <a:cxnLst/>
            <a:rect l="l" t="t" r="r" b="b"/>
            <a:pathLst>
              <a:path w="1905" h="0">
                <a:moveTo>
                  <a:pt x="0" y="0"/>
                </a:moveTo>
                <a:lnTo>
                  <a:pt x="15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64410" y="2045334"/>
            <a:ext cx="844740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Wireless</a:t>
            </a:r>
            <a:r>
              <a:rPr dirty="0" spc="-180"/>
              <a:t> </a:t>
            </a:r>
            <a:r>
              <a:rPr dirty="0" spc="-70"/>
              <a:t>Transmission</a:t>
            </a:r>
            <a:r>
              <a:rPr dirty="0" spc="-190"/>
              <a:t> </a:t>
            </a:r>
            <a:r>
              <a:rPr dirty="0"/>
              <a:t>&amp;</a:t>
            </a:r>
            <a:r>
              <a:rPr dirty="0" spc="-155"/>
              <a:t> </a:t>
            </a:r>
            <a:r>
              <a:rPr dirty="0" spc="-35"/>
              <a:t>Propagation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083" y="885520"/>
            <a:ext cx="10515600" cy="11946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5202" y="2602839"/>
            <a:ext cx="10182225" cy="2769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Wireless</a:t>
            </a:r>
            <a:r>
              <a:rPr dirty="0" sz="2000" spc="15" b="1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Transmission:</a:t>
            </a:r>
            <a:r>
              <a:rPr dirty="0" sz="2000" spc="10" b="1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transfer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devices</a:t>
            </a:r>
            <a:r>
              <a:rPr dirty="0" sz="2000" spc="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without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physical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cables</a:t>
            </a:r>
            <a:r>
              <a:rPr dirty="0" sz="2000" spc="5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using </a:t>
            </a:r>
            <a:r>
              <a:rPr dirty="0" sz="2000">
                <a:latin typeface="Times New Roman"/>
                <a:cs typeface="Times New Roman"/>
              </a:rPr>
              <a:t>electromagnetic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waves.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Example: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Sending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through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Wi-Fi,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Bluetooth,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 mobile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networks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without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cables.</a:t>
            </a:r>
            <a:endParaRPr sz="2000">
              <a:latin typeface="Times New Roman"/>
              <a:cs typeface="Times New Roman"/>
            </a:endParaRPr>
          </a:p>
          <a:p>
            <a:pPr marL="12700" marR="5715">
              <a:lnSpc>
                <a:spcPct val="150000"/>
              </a:lnSpc>
            </a:pPr>
            <a:r>
              <a:rPr dirty="0" sz="2000" b="1">
                <a:latin typeface="Times New Roman"/>
                <a:cs typeface="Times New Roman"/>
              </a:rPr>
              <a:t>Wireless</a:t>
            </a:r>
            <a:r>
              <a:rPr dirty="0" sz="2000" spc="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Propagation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movement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radio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waves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through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air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space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transmitter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a </a:t>
            </a:r>
            <a:r>
              <a:rPr dirty="0" sz="2000">
                <a:latin typeface="Times New Roman"/>
                <a:cs typeface="Times New Roman"/>
              </a:rPr>
              <a:t>receiver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reflection,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diffraction,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scattering.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Example: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Radio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signals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traveling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cell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tower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mobile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phone.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76448" y="1930400"/>
            <a:ext cx="1905" cy="0"/>
          </a:xfrm>
          <a:custGeom>
            <a:avLst/>
            <a:gdLst/>
            <a:ahLst/>
            <a:cxnLst/>
            <a:rect l="l" t="t" r="r" b="b"/>
            <a:pathLst>
              <a:path w="1905" h="0">
                <a:moveTo>
                  <a:pt x="0" y="0"/>
                </a:moveTo>
                <a:lnTo>
                  <a:pt x="15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7446" rIns="0" bIns="0" rtlCol="0" vert="horz">
            <a:spAutoFit/>
          </a:bodyPr>
          <a:lstStyle/>
          <a:p>
            <a:pPr marL="1064895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Conclusion</a:t>
            </a:r>
            <a:r>
              <a:rPr dirty="0" spc="-229"/>
              <a:t> </a:t>
            </a:r>
            <a:r>
              <a:rPr dirty="0"/>
              <a:t>&amp;</a:t>
            </a:r>
            <a:r>
              <a:rPr dirty="0" spc="-140"/>
              <a:t> </a:t>
            </a:r>
            <a:r>
              <a:rPr dirty="0" spc="-60"/>
              <a:t>Future</a:t>
            </a:r>
            <a:r>
              <a:rPr dirty="0" spc="-245"/>
              <a:t> </a:t>
            </a:r>
            <a:r>
              <a:rPr dirty="0" spc="-10"/>
              <a:t>Scope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083" y="885520"/>
            <a:ext cx="10515600" cy="119461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pc="-10"/>
              <a:t>Conclusion</a:t>
            </a:r>
          </a:p>
          <a:p>
            <a:pPr marL="298450" indent="-285750">
              <a:lnSpc>
                <a:spcPct val="100000"/>
              </a:lnSpc>
              <a:spcBef>
                <a:spcPts val="1135"/>
              </a:spcBef>
              <a:buFont typeface="Wingdings"/>
              <a:buChar char=""/>
              <a:tabLst>
                <a:tab pos="298450" algn="l"/>
              </a:tabLst>
            </a:pPr>
            <a:r>
              <a:rPr dirty="0" sz="1800" b="0">
                <a:latin typeface="Times New Roman"/>
                <a:cs typeface="Times New Roman"/>
              </a:rPr>
              <a:t>Wireless</a:t>
            </a:r>
            <a:r>
              <a:rPr dirty="0" sz="1800" spc="-5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communication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enables</a:t>
            </a:r>
            <a:r>
              <a:rPr dirty="0" sz="1800" spc="-4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fast</a:t>
            </a:r>
            <a:r>
              <a:rPr dirty="0" sz="1800" spc="-4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and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reliable</a:t>
            </a:r>
            <a:r>
              <a:rPr dirty="0" sz="1800" spc="-4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data</a:t>
            </a:r>
            <a:r>
              <a:rPr dirty="0" sz="1800" spc="-5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transmission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without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physical</a:t>
            </a:r>
            <a:r>
              <a:rPr dirty="0" sz="1800" spc="-65" b="0">
                <a:latin typeface="Times New Roman"/>
                <a:cs typeface="Times New Roman"/>
              </a:rPr>
              <a:t> </a:t>
            </a:r>
            <a:r>
              <a:rPr dirty="0" sz="1800" spc="-10" b="0">
                <a:latin typeface="Times New Roman"/>
                <a:cs typeface="Times New Roman"/>
              </a:rPr>
              <a:t>cables.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8450" algn="l"/>
              </a:tabLst>
            </a:pPr>
            <a:r>
              <a:rPr dirty="0" sz="1800" b="0">
                <a:latin typeface="Times New Roman"/>
                <a:cs typeface="Times New Roman"/>
              </a:rPr>
              <a:t>It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supports</a:t>
            </a:r>
            <a:r>
              <a:rPr dirty="0" sz="1800" spc="-2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mobile</a:t>
            </a:r>
            <a:r>
              <a:rPr dirty="0" sz="1800" spc="-2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networks,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spc="-20" b="0">
                <a:latin typeface="Times New Roman"/>
                <a:cs typeface="Times New Roman"/>
              </a:rPr>
              <a:t>Wi-</a:t>
            </a:r>
            <a:r>
              <a:rPr dirty="0" sz="1800" b="0">
                <a:latin typeface="Times New Roman"/>
                <a:cs typeface="Times New Roman"/>
              </a:rPr>
              <a:t>Fi,</a:t>
            </a:r>
            <a:r>
              <a:rPr dirty="0" sz="1800" spc="-1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IoT</a:t>
            </a:r>
            <a:r>
              <a:rPr dirty="0" sz="1800" spc="-2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devices,</a:t>
            </a:r>
            <a:r>
              <a:rPr dirty="0" sz="1800" spc="-4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and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various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digital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spc="-10" b="0">
                <a:latin typeface="Times New Roman"/>
                <a:cs typeface="Times New Roman"/>
              </a:rPr>
              <a:t>services.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/>
              <a:t>Future</a:t>
            </a:r>
            <a:r>
              <a:rPr dirty="0" spc="-25"/>
              <a:t> </a:t>
            </a:r>
            <a:r>
              <a:rPr dirty="0" spc="-20"/>
              <a:t>Scope</a:t>
            </a:r>
          </a:p>
          <a:p>
            <a:pPr marL="298450" indent="-285750">
              <a:lnSpc>
                <a:spcPct val="100000"/>
              </a:lnSpc>
              <a:spcBef>
                <a:spcPts val="1135"/>
              </a:spcBef>
              <a:buFont typeface="Wingdings"/>
              <a:buChar char=""/>
              <a:tabLst>
                <a:tab pos="298450" algn="l"/>
              </a:tabLst>
            </a:pPr>
            <a:r>
              <a:rPr dirty="0" sz="1800" b="0">
                <a:latin typeface="Times New Roman"/>
                <a:cs typeface="Times New Roman"/>
              </a:rPr>
              <a:t>6G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technology</a:t>
            </a:r>
            <a:r>
              <a:rPr dirty="0" sz="1800" spc="-5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will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improve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data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speeds,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connectivity,</a:t>
            </a:r>
            <a:r>
              <a:rPr dirty="0" sz="1800" spc="-6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and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network</a:t>
            </a:r>
            <a:r>
              <a:rPr dirty="0" sz="1800" spc="-40" b="0">
                <a:latin typeface="Times New Roman"/>
                <a:cs typeface="Times New Roman"/>
              </a:rPr>
              <a:t> </a:t>
            </a:r>
            <a:r>
              <a:rPr dirty="0" sz="1800" spc="-10" b="0">
                <a:latin typeface="Times New Roman"/>
                <a:cs typeface="Times New Roman"/>
              </a:rPr>
              <a:t>performance.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8450" algn="l"/>
              </a:tabLst>
            </a:pPr>
            <a:r>
              <a:rPr dirty="0" sz="1800" b="0">
                <a:latin typeface="Times New Roman"/>
                <a:cs typeface="Times New Roman"/>
              </a:rPr>
              <a:t>AI,</a:t>
            </a:r>
            <a:r>
              <a:rPr dirty="0" sz="1800" spc="-4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IoT,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and</a:t>
            </a:r>
            <a:r>
              <a:rPr dirty="0" sz="1800" spc="-4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satellite</a:t>
            </a:r>
            <a:r>
              <a:rPr dirty="0" sz="1800" spc="-6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communication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will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enable</a:t>
            </a:r>
            <a:r>
              <a:rPr dirty="0" sz="1800" spc="-4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smarter</a:t>
            </a:r>
            <a:r>
              <a:rPr dirty="0" sz="1800" spc="-4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and</a:t>
            </a:r>
            <a:r>
              <a:rPr dirty="0" sz="1800" spc="-4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wider</a:t>
            </a:r>
            <a:r>
              <a:rPr dirty="0" sz="1800" spc="-4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wireless</a:t>
            </a:r>
            <a:r>
              <a:rPr dirty="0" sz="1800" spc="-45" b="0">
                <a:latin typeface="Times New Roman"/>
                <a:cs typeface="Times New Roman"/>
              </a:rPr>
              <a:t> </a:t>
            </a:r>
            <a:r>
              <a:rPr dirty="0" sz="1800" spc="-10" b="0">
                <a:latin typeface="Times New Roman"/>
                <a:cs typeface="Times New Roman"/>
              </a:rPr>
              <a:t>connectivity.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jayanthreddy0606@gmail.com</dc:creator>
  <dc:title>PowerPoint Presentation</dc:title>
  <dcterms:created xsi:type="dcterms:W3CDTF">2026-10-26T04:08:07Z</dcterms:created>
  <dcterms:modified xsi:type="dcterms:W3CDTF">2026-10-26T04:08:07Z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2026-10-26T00:00:00Z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2026-10-26T00:00:00Z</vt:filetime>
  </property>
  <property fmtid="{D5CDD505-2E9C-101B-9397-08002B2CF9AE}" pid="6" name="Producer">
    <vt:lpwstr>Microsoft® PowerPoint® for Microsoft 365</vt:lpwstr>
  </property>
</Properties>
</file>